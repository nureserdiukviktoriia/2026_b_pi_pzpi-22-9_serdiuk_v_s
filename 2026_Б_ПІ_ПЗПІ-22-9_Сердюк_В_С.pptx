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9" r:id="rId9"/>
    <p:sldId id="270" r:id="rId10"/>
    <p:sldId id="264" r:id="rId11"/>
    <p:sldId id="265" r:id="rId12"/>
    <p:sldId id="268" r:id="rId13"/>
    <p:sldId id="267" r:id="rId14"/>
  </p:sldIdLst>
  <p:sldSz cx="9144000" cy="5143500" type="screen16x9"/>
  <p:notesSz cx="6858000" cy="9144000"/>
  <p:embeddedFontLst>
    <p:embeddedFont>
      <p:font typeface="Economica" panose="020B0604020202020204" charset="0"/>
      <p:regular r:id="rId16"/>
      <p:bold r:id="rId17"/>
      <p:italic r:id="rId18"/>
      <p:boldItalic r:id="rId19"/>
    </p:embeddedFont>
    <p:embeddedFont>
      <p:font typeface="Open Sans" panose="020B0606030504020204" pitchFamily="34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ECF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Помірний стиль 2 –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Помір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Помірний стиль 2 –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Помірний стиль 2 –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Помірний стиль 2 –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269D01E-BC32-4049-B463-5C60D7B0CCD2}" styleName="Стиль із теми 2 – акцент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Стиль із теми 2 – акцент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DF18680-E054-41AD-8BC1-D1AEF772440D}" styleName="Помірний стиль 2 –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75DCB02-9BB8-47FD-8907-85C794F793BA}" styleName="Стиль із теми 1 – акцент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Стиль із теми 1 – акцент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802" y="6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uk-UA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1013748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uk-UA"/>
          </a:p>
        </p:txBody>
      </p:sp>
      <p:sp>
        <p:nvSpPr>
          <p:cNvPr id="60" name="Google Shape;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0ddf966691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uk-UA"/>
          </a:p>
        </p:txBody>
      </p:sp>
      <p:sp>
        <p:nvSpPr>
          <p:cNvPr id="69" name="Google Shape;69;g20ddf966691_0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e16b2adad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uk-UA"/>
          </a:p>
        </p:txBody>
      </p:sp>
      <p:sp>
        <p:nvSpPr>
          <p:cNvPr id="76" name="Google Shape;76;g2e16b2adad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e16b2adad1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uk-UA"/>
          </a:p>
        </p:txBody>
      </p:sp>
      <p:sp>
        <p:nvSpPr>
          <p:cNvPr id="83" name="Google Shape;83;g2e16b2adad1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e16b2adad1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uk-UA"/>
          </a:p>
        </p:txBody>
      </p:sp>
      <p:sp>
        <p:nvSpPr>
          <p:cNvPr id="90" name="Google Shape;90;g2e16b2adad1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e16b2adad1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uk-UA"/>
          </a:p>
        </p:txBody>
      </p:sp>
      <p:sp>
        <p:nvSpPr>
          <p:cNvPr id="97" name="Google Shape;97;g2e16b2adad1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e16b2adad1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uk-UA"/>
          </a:p>
        </p:txBody>
      </p:sp>
      <p:sp>
        <p:nvSpPr>
          <p:cNvPr id="111" name="Google Shape;111;g2e16b2adad1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e16b2adad1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uk-UA"/>
          </a:p>
        </p:txBody>
      </p:sp>
      <p:sp>
        <p:nvSpPr>
          <p:cNvPr id="118" name="Google Shape;118;g2e16b2adad1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16b2adad1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uk-UA"/>
          </a:p>
        </p:txBody>
      </p:sp>
      <p:sp>
        <p:nvSpPr>
          <p:cNvPr id="125" name="Google Shape;125;g2e16b2adad1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16b2adad1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uk-UA"/>
          </a:p>
        </p:txBody>
      </p:sp>
      <p:sp>
        <p:nvSpPr>
          <p:cNvPr id="125" name="Google Shape;125;g2e16b2adad1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e16b2adad1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uk-UA"/>
          </a:p>
        </p:txBody>
      </p:sp>
      <p:sp>
        <p:nvSpPr>
          <p:cNvPr id="139" name="Google Shape;139;g2e16b2adad1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uk-UA"/>
          </a:p>
        </p:txBody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uk-UA"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uk-UA"/>
          </a:p>
        </p:txBody>
      </p:sp>
      <p:sp>
        <p:nvSpPr>
          <p:cNvPr id="17" name="Google Shape;17;p3"/>
          <p:cNvSpPr/>
          <p:nvPr/>
        </p:nvSpPr>
        <p:spPr>
          <a:xfrm rot="10800000" flipH="1">
            <a:off x="466425" y="35583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uk-UA"/>
          </a:p>
        </p:txBody>
      </p: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>
            <a:spLocks noGrp="1"/>
          </p:cNvSpPr>
          <p:nvPr>
            <p:ph type="body" idx="1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title" hasCustomPrompt="1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1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Пустий слайд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ux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emf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ctrTitle"/>
          </p:nvPr>
        </p:nvSpPr>
        <p:spPr>
          <a:xfrm>
            <a:off x="1244271" y="2415887"/>
            <a:ext cx="6655457" cy="43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l"/>
            <a:r>
              <a:rPr lang="uk-UA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Веб-застосунок для вивчення англійської мови. Адмін-панель та система аналітики прогресу.</a:t>
            </a:r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1"/>
          </p:nvPr>
        </p:nvSpPr>
        <p:spPr>
          <a:xfrm>
            <a:off x="1948250" y="3635125"/>
            <a:ext cx="5087400" cy="153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uk-UA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Сердюк В.С., ПЗПІ-22-9 </a:t>
            </a:r>
          </a:p>
          <a:p>
            <a:pPr marL="0" lvl="0" indent="0" algn="l"/>
            <a:r>
              <a:rPr lang="uk-UA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Керівник: ст.викл. кафедри ПІ, Зибіна К. В.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uk-UA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uk-UA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 червня 2025</a:t>
            </a:r>
          </a:p>
        </p:txBody>
      </p:sp>
      <p:pic>
        <p:nvPicPr>
          <p:cNvPr id="64" name="Google Shape;6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4725" y="170825"/>
            <a:ext cx="2133975" cy="38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68504" y="170825"/>
            <a:ext cx="1924921" cy="43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-UA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Мета роботи</a:t>
            </a:r>
          </a:p>
        </p:txBody>
      </p:sp>
      <p:sp>
        <p:nvSpPr>
          <p:cNvPr id="72" name="Google Shape;72;p14"/>
          <p:cNvSpPr txBox="1">
            <a:spLocks noGrp="1"/>
          </p:cNvSpPr>
          <p:nvPr>
            <p:ph type="body" idx="1"/>
          </p:nvPr>
        </p:nvSpPr>
        <p:spPr>
          <a:xfrm>
            <a:off x="311700" y="565617"/>
            <a:ext cx="8750592" cy="109568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uk-UA" sz="1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Розробити веб-застосунок для вивчення англійської мови з можливістю проходження тематичних навчальних модулів, тестування для визначення рекомендованого рівня навчання, відстеження прогресу та використання адміністративної панелі для керування навчальним контентом.</a:t>
            </a: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lang="uk-UA" sz="14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3" name="Google Shape;7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93E68CA-DEF7-D32D-BFB6-7B402335F4C7}"/>
              </a:ext>
            </a:extLst>
          </p:cNvPr>
          <p:cNvSpPr txBox="1"/>
          <p:nvPr/>
        </p:nvSpPr>
        <p:spPr>
          <a:xfrm>
            <a:off x="8778240" y="4606349"/>
            <a:ext cx="274434" cy="3768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fld id="{A35EEF41-5B9E-4186-8855-3C8162DCC2D6}" type="slidenum">
              <a:rPr lang="uk-UA" noProof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lnSpc>
                  <a:spcPct val="150000"/>
                </a:lnSpc>
              </a:pPr>
              <a:t>2</a:t>
            </a:fld>
            <a:endParaRPr lang="uk-UA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D00C1B-D0CC-DEFC-DC03-B2CEBC2EF40F}"/>
              </a:ext>
            </a:extLst>
          </p:cNvPr>
          <p:cNvSpPr txBox="1"/>
          <p:nvPr/>
        </p:nvSpPr>
        <p:spPr>
          <a:xfrm>
            <a:off x="311700" y="1751285"/>
            <a:ext cx="8707817" cy="26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uk-UA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Актуальність роботи</a:t>
            </a:r>
          </a:p>
          <a:p>
            <a:pPr marL="285750" indent="-285750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Знання </a:t>
            </a:r>
            <a:r>
              <a:rPr lang="uk-UA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англійської мови є надзвичайно важливою навичкою в сучасному світі</a:t>
            </a: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uk-UA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Англійська</a:t>
            </a:r>
            <a:r>
              <a:rPr lang="uk-UA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мова відкриває можливості для навчання, професійного розвитку та міжнародного спілкування</a:t>
            </a: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uk-UA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uk-UA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Веб-застосунки забезпечують доступ до навчання у будь-який час і з будь-якого місця</a:t>
            </a: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285750" indent="-285750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Використання аналітики прогресу та персоналізованих рекомендацій сприяє покращенню результатів навчання.</a:t>
            </a:r>
            <a:endParaRPr lang="uk-UA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311700" y="-124863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Аналіз існуючих рішень</a:t>
            </a:r>
          </a:p>
        </p:txBody>
      </p:sp>
      <p:pic>
        <p:nvPicPr>
          <p:cNvPr id="80" name="Google Shape;8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B62475D-5E0B-A5AC-3922-2970FC56A64D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noProof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uk-UA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Приложения в Google Play – Busuu - учить языки">
            <a:extLst>
              <a:ext uri="{FF2B5EF4-FFF2-40B4-BE49-F238E27FC236}">
                <a16:creationId xmlns:a16="http://schemas.microsoft.com/office/drawing/2014/main" id="{38060789-D9E0-3638-664D-1ED26AE3D2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8631" y="919312"/>
            <a:ext cx="1075771" cy="1075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emrise: приложения для Android в Google Play">
            <a:extLst>
              <a:ext uri="{FF2B5EF4-FFF2-40B4-BE49-F238E27FC236}">
                <a16:creationId xmlns:a16="http://schemas.microsoft.com/office/drawing/2014/main" id="{35FEACF4-C092-CD89-C187-468A0EDAA6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5886" y="825600"/>
            <a:ext cx="1169483" cy="1169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4597BAF-002B-10C6-ECAD-C999F904CA74}"/>
              </a:ext>
            </a:extLst>
          </p:cNvPr>
          <p:cNvSpPr txBox="1"/>
          <p:nvPr/>
        </p:nvSpPr>
        <p:spPr>
          <a:xfrm>
            <a:off x="4572000" y="2311554"/>
            <a:ext cx="3817257" cy="166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uk-UA" kern="100" noProof="0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В</a:t>
            </a:r>
            <a:r>
              <a:rPr lang="uk-UA" kern="100" noProof="0" dirty="0">
                <a:effectLst/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ідсутня розширена аналітика навчального прогресу користувача;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uk-UA" kern="100" noProof="0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Н</a:t>
            </a:r>
            <a:r>
              <a:rPr lang="uk-UA" kern="100" noProof="0" dirty="0">
                <a:effectLst/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едостатня увага до граматики, основний акцент зроблено на запам’ятовуванні слів і фраз.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82A2E6-B8CD-95CA-BBBC-86A357BD0E77}"/>
              </a:ext>
            </a:extLst>
          </p:cNvPr>
          <p:cNvSpPr txBox="1"/>
          <p:nvPr/>
        </p:nvSpPr>
        <p:spPr>
          <a:xfrm>
            <a:off x="949645" y="2311554"/>
            <a:ext cx="3622355" cy="13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uk-UA" kern="100" noProof="0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Аналітика навчального прогресу представлена у спрощеному вигляді;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uk-UA" kern="100" noProof="0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Користувач не має доступу до повної статистики своїх помилок.</a:t>
            </a:r>
            <a:endParaRPr lang="uk-UA" kern="100" noProof="0" dirty="0">
              <a:effectLst/>
              <a:latin typeface="Times New Roman" panose="02020603050405020304" pitchFamily="18" charset="0"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-186276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Постановка задачі та опис системи</a:t>
            </a:r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700" y="467421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50000"/>
              </a:lnSpc>
              <a:spcBef>
                <a:spcPts val="1500"/>
              </a:spcBef>
              <a:buNone/>
            </a:pPr>
            <a:r>
              <a:rPr lang="uk-UA" sz="1400" noProof="0" dirty="0">
                <a:solidFill>
                  <a:srgbClr val="0D0D0D"/>
                </a:solidFill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Створити веб</a:t>
            </a:r>
            <a:r>
              <a:rPr lang="en-US" sz="1400" noProof="0" dirty="0">
                <a:solidFill>
                  <a:srgbClr val="0D0D0D"/>
                </a:solidFill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-</a:t>
            </a:r>
            <a:r>
              <a:rPr lang="uk-UA" sz="1400" noProof="0" dirty="0">
                <a:solidFill>
                  <a:srgbClr val="0D0D0D"/>
                </a:solidFill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застосунок для покращення знань англійської мови, розвитку основних мовних навичок та відстеження навчального прогресу користувачів.</a:t>
            </a:r>
          </a:p>
        </p:txBody>
      </p:sp>
      <p:pic>
        <p:nvPicPr>
          <p:cNvPr id="87" name="Google Shape;8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23D9805-068E-FE7E-BC9A-0C410D68B73B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noProof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uk-UA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311F0A-6FD4-1434-C8B6-047297182198}"/>
              </a:ext>
            </a:extLst>
          </p:cNvPr>
          <p:cNvSpPr txBox="1"/>
          <p:nvPr/>
        </p:nvSpPr>
        <p:spPr>
          <a:xfrm>
            <a:off x="1286535" y="1525759"/>
            <a:ext cx="6930929" cy="26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uk-UA" dirty="0">
                <a:solidFill>
                  <a:srgbClr val="0D0D0D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Очікувані результати: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uk-UA" kern="100" dirty="0">
                <a:effectLst/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Зрозумілий </a:t>
            </a:r>
            <a:r>
              <a:rPr lang="uk-UA" kern="100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та зручний у використанні інтерфейс</a:t>
            </a:r>
            <a:r>
              <a:rPr lang="en-US" kern="100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;</a:t>
            </a:r>
            <a:endParaRPr lang="uk-UA" kern="100" dirty="0">
              <a:latin typeface="Times New Roman" panose="02020603050405020304" pitchFamily="18" charset="0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uk-UA" kern="100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Наявність адміністративної панелі для керування навчальними курсами та міні-тестами;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uk-UA" kern="100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Можливість визначення рекомендованого рівня навчання та аналізу динаміки результатів міні-тестів;</a:t>
            </a:r>
            <a:endParaRPr lang="en-US" kern="100" dirty="0">
              <a:latin typeface="Times New Roman" panose="02020603050405020304" pitchFamily="18" charset="0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uk-UA" kern="100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Відображення аналітики прогресу проходження курсів і тестів;</a:t>
            </a:r>
            <a:endParaRPr lang="en-US" kern="100" dirty="0">
              <a:latin typeface="Times New Roman" panose="02020603050405020304" pitchFamily="18" charset="0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uk-UA" kern="100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Реалізація словника для повторення вивчених слів.</a:t>
            </a:r>
            <a:endParaRPr lang="uk-UA" kern="100" noProof="0" dirty="0">
              <a:effectLst/>
              <a:latin typeface="Times New Roman" panose="02020603050405020304" pitchFamily="18" charset="0"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>
            <a:spLocks noGrp="1"/>
          </p:cNvSpPr>
          <p:nvPr>
            <p:ph type="title"/>
          </p:nvPr>
        </p:nvSpPr>
        <p:spPr>
          <a:xfrm>
            <a:off x="311700" y="-148309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Вибір технологій розробки 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343E912-C721-1128-5F72-D9BB9BCF5CCA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7BA564A-2188-0E9E-93BE-5D34EAFA8F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6842" y="2571750"/>
            <a:ext cx="2073824" cy="862011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E0ACE492-9647-E978-C25D-D34297737D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3605" y="1711159"/>
            <a:ext cx="2430260" cy="1620173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07CAC074-4382-8E44-CCF7-A0C87B6B03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6842" y="1109966"/>
            <a:ext cx="1675996" cy="742771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B4C746E6-E6C1-0F6F-9246-D5B06385841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2688" y="1011970"/>
            <a:ext cx="2087940" cy="1174466"/>
          </a:xfrm>
          <a:prstGeom prst="rect">
            <a:avLst/>
          </a:prstGeom>
        </p:spPr>
      </p:pic>
      <p:pic>
        <p:nvPicPr>
          <p:cNvPr id="1026" name="Picture 2" descr="Charting and Graphing in React with Recharts | by Onyeije Precious |  StackAnatomy | Medium">
            <a:extLst>
              <a:ext uri="{FF2B5EF4-FFF2-40B4-BE49-F238E27FC236}">
                <a16:creationId xmlns:a16="http://schemas.microsoft.com/office/drawing/2014/main" id="{BA2D5285-1A6F-5232-6EA4-EEF0073C9F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105" y="2515416"/>
            <a:ext cx="1951523" cy="1098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>
            <a:spLocks noGrp="1"/>
          </p:cNvSpPr>
          <p:nvPr>
            <p:ph type="title"/>
          </p:nvPr>
        </p:nvSpPr>
        <p:spPr>
          <a:xfrm>
            <a:off x="268925" y="349659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Архітектура створенного програмного забезпечення</a:t>
            </a:r>
            <a:endParaRPr sz="3200" dirty="0"/>
          </a:p>
        </p:txBody>
      </p:sp>
      <p:pic>
        <p:nvPicPr>
          <p:cNvPr id="101" name="Google Shape;10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2A55726-B906-08A2-C43F-1B00FCF5F354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111F24E-64B4-2964-DDCB-1A5F0CB2D2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7288" y="1608314"/>
            <a:ext cx="6231938" cy="23238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>
            <a:spLocks noGrp="1"/>
          </p:cNvSpPr>
          <p:nvPr>
            <p:ph type="title"/>
          </p:nvPr>
        </p:nvSpPr>
        <p:spPr>
          <a:xfrm>
            <a:off x="311700" y="-92038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Діаграма використання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5" name="Google Shape;11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8624834-013E-7249-F488-C816A0DA9355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ADB76F6-24A9-FD69-EFC5-B1C4D29485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7464" y="739262"/>
            <a:ext cx="5771286" cy="386090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3EF79EC-1B08-5CD5-CA93-137A523146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9797" y="739262"/>
            <a:ext cx="6314032" cy="3898139"/>
          </a:xfrm>
          <a:prstGeom prst="rect">
            <a:avLst/>
          </a:prstGeom>
        </p:spPr>
      </p:pic>
      <p:sp>
        <p:nvSpPr>
          <p:cNvPr id="5" name="Google Shape;113;p20">
            <a:extLst>
              <a:ext uri="{FF2B5EF4-FFF2-40B4-BE49-F238E27FC236}">
                <a16:creationId xmlns:a16="http://schemas.microsoft.com/office/drawing/2014/main" id="{82766EE5-9616-4D89-1549-D84A3A11F8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-92038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Діаграма діяльності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07182C-B8B9-4230-A5DF-EB533EB66F14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74973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25C96F2-5601-1BDD-6F12-9C8B42E3C185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4098B64-0BD5-27BD-3E97-E61CC707C9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1454" y="1081911"/>
            <a:ext cx="6959140" cy="3395746"/>
          </a:xfrm>
          <a:prstGeom prst="rect">
            <a:avLst/>
          </a:prstGeom>
        </p:spPr>
      </p:pic>
      <p:sp>
        <p:nvSpPr>
          <p:cNvPr id="9" name="Google Shape;113;p20">
            <a:extLst>
              <a:ext uri="{FF2B5EF4-FFF2-40B4-BE49-F238E27FC236}">
                <a16:creationId xmlns:a16="http://schemas.microsoft.com/office/drawing/2014/main" id="{2DA59EFB-6D52-7D66-8CCA-3A6CF73971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-92038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Схема бази даних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96093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268925" y="-152998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3200" noProof="0" dirty="0"/>
              <a:t>Приклад реалізації</a:t>
            </a:r>
          </a:p>
        </p:txBody>
      </p:sp>
      <p:pic>
        <p:nvPicPr>
          <p:cNvPr id="122" name="Google Shape;12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8800C66-AABB-EFA8-12F4-0C56A1243712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noProof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uk-UA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9E6275F-9286-C050-E042-F1152FB30B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695" y="1168395"/>
            <a:ext cx="2669426" cy="23368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23DE62F-3CA6-F46B-7448-0F874017F6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5996" y="1037766"/>
            <a:ext cx="2617747" cy="2467429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9843C93-D143-3704-C7DA-EA41706F26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1619" y="1895481"/>
            <a:ext cx="2738647" cy="160105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5489E9A-DC7E-7EC3-FC2D-5A1C47FD48C7}"/>
              </a:ext>
            </a:extLst>
          </p:cNvPr>
          <p:cNvSpPr txBox="1"/>
          <p:nvPr/>
        </p:nvSpPr>
        <p:spPr>
          <a:xfrm>
            <a:off x="458003" y="3505195"/>
            <a:ext cx="25108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Випадковий вивід питань за рівнем тесту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C88ECD-FBBB-C00D-08A9-A655E1A78F4A}"/>
              </a:ext>
            </a:extLst>
          </p:cNvPr>
          <p:cNvSpPr txBox="1"/>
          <p:nvPr/>
        </p:nvSpPr>
        <p:spPr>
          <a:xfrm>
            <a:off x="3245548" y="3505195"/>
            <a:ext cx="27386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Перевірка користувача та відповіді на секретне питання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46936F-0E33-1EA3-CCF7-32EFEB7BFABC}"/>
              </a:ext>
            </a:extLst>
          </p:cNvPr>
          <p:cNvSpPr txBox="1"/>
          <p:nvPr/>
        </p:nvSpPr>
        <p:spPr>
          <a:xfrm>
            <a:off x="6175190" y="3478772"/>
            <a:ext cx="27386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Оновлення пароля після підтвердження відповіді на секретне питання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>
            <a:spLocks noGrp="1"/>
          </p:cNvSpPr>
          <p:nvPr>
            <p:ph type="title"/>
          </p:nvPr>
        </p:nvSpPr>
        <p:spPr>
          <a:xfrm>
            <a:off x="268925" y="-14362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Інтерфейс користувача </a:t>
            </a:r>
            <a:endParaRPr sz="3200" dirty="0"/>
          </a:p>
        </p:txBody>
      </p:sp>
      <p:pic>
        <p:nvPicPr>
          <p:cNvPr id="129" name="Google Shape;1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28D948D-369C-B702-98D8-76BFF8794D17}"/>
              </a:ext>
            </a:extLst>
          </p:cNvPr>
          <p:cNvSpPr txBox="1"/>
          <p:nvPr/>
        </p:nvSpPr>
        <p:spPr>
          <a:xfrm>
            <a:off x="8778240" y="4606349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AA4EA89-6039-ECAD-77A8-3173823AE0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532" y="703582"/>
            <a:ext cx="3804672" cy="1837585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3C387A2-D30E-5C43-7E7E-09258F8790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2532" y="2549872"/>
            <a:ext cx="2170874" cy="1809628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2E98DEE-60F3-C23C-D0C2-7F6B8552ED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07167" y="2751612"/>
            <a:ext cx="3872592" cy="1760803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B60586C1-C81F-5843-391A-8C98F1FB3F3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89983" y="1039368"/>
            <a:ext cx="2170874" cy="1532382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4F1142E9-16FE-A05E-CBC5-0B56753E654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23637" y="805249"/>
            <a:ext cx="2720363" cy="323368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>
            <a:spLocks noGrp="1"/>
          </p:cNvSpPr>
          <p:nvPr>
            <p:ph type="title"/>
          </p:nvPr>
        </p:nvSpPr>
        <p:spPr>
          <a:xfrm>
            <a:off x="268925" y="-14362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Тестування</a:t>
            </a:r>
          </a:p>
        </p:txBody>
      </p:sp>
      <p:pic>
        <p:nvPicPr>
          <p:cNvPr id="129" name="Google Shape;1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28D948D-369C-B702-98D8-76BFF8794D17}"/>
              </a:ext>
            </a:extLst>
          </p:cNvPr>
          <p:cNvSpPr txBox="1"/>
          <p:nvPr/>
        </p:nvSpPr>
        <p:spPr>
          <a:xfrm>
            <a:off x="8778240" y="4606349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noProof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endParaRPr lang="uk-UA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Таблиця 8">
            <a:extLst>
              <a:ext uri="{FF2B5EF4-FFF2-40B4-BE49-F238E27FC236}">
                <a16:creationId xmlns:a16="http://schemas.microsoft.com/office/drawing/2014/main" id="{1BE9A96D-E85B-8415-3918-8081DD8BCB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543933"/>
              </p:ext>
            </p:extLst>
          </p:nvPr>
        </p:nvGraphicFramePr>
        <p:xfrm>
          <a:off x="217714" y="708525"/>
          <a:ext cx="4296229" cy="3383279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051203">
                  <a:extLst>
                    <a:ext uri="{9D8B030D-6E8A-4147-A177-3AD203B41FA5}">
                      <a16:colId xmlns:a16="http://schemas.microsoft.com/office/drawing/2014/main" val="3935105683"/>
                    </a:ext>
                  </a:extLst>
                </a:gridCol>
                <a:gridCol w="1126745">
                  <a:extLst>
                    <a:ext uri="{9D8B030D-6E8A-4147-A177-3AD203B41FA5}">
                      <a16:colId xmlns:a16="http://schemas.microsoft.com/office/drawing/2014/main" val="995681297"/>
                    </a:ext>
                  </a:extLst>
                </a:gridCol>
                <a:gridCol w="1044224">
                  <a:extLst>
                    <a:ext uri="{9D8B030D-6E8A-4147-A177-3AD203B41FA5}">
                      <a16:colId xmlns:a16="http://schemas.microsoft.com/office/drawing/2014/main" val="3715564239"/>
                    </a:ext>
                  </a:extLst>
                </a:gridCol>
                <a:gridCol w="1074057">
                  <a:extLst>
                    <a:ext uri="{9D8B030D-6E8A-4147-A177-3AD203B41FA5}">
                      <a16:colId xmlns:a16="http://schemas.microsoft.com/office/drawing/2014/main" val="2815947396"/>
                    </a:ext>
                  </a:extLst>
                </a:gridCol>
              </a:tblGrid>
              <a:tr h="291884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uk-UA" sz="1200" noProof="0" dirty="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Модульне тестування </a:t>
                      </a:r>
                      <a:endParaRPr lang="uk-UA" sz="1200" noProof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uk-U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uk-U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uk-U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770447"/>
                  </a:ext>
                </a:extLst>
              </a:tr>
              <a:tr h="581194">
                <a:tc>
                  <a:txBody>
                    <a:bodyPr/>
                    <a:lstStyle/>
                    <a:p>
                      <a:pPr algn="ctr"/>
                      <a:r>
                        <a:rPr lang="uk-UA" sz="12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Тест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2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Вхідні дані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2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Очікуваний результат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2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Фактичний результат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6035620"/>
                  </a:ext>
                </a:extLst>
              </a:tr>
              <a:tr h="904840">
                <a:tc>
                  <a:txBody>
                    <a:bodyPr/>
                    <a:lstStyle/>
                    <a:p>
                      <a:pPr algn="l"/>
                      <a:r>
                        <a:rPr lang="uk-UA" sz="12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Перевірка рівня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uk-UA" sz="12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“”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uk-UA" sz="1200" b="0" i="0" u="none" strike="noStrike" cap="none" noProof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Рівень не може бути пустим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uk-UA" sz="1200" b="0" i="0" u="none" strike="noStrike" cap="none" noProof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Будь ласка, оберіть рівень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0446192"/>
                  </a:ext>
                </a:extLst>
              </a:tr>
              <a:tr h="904840">
                <a:tc>
                  <a:txBody>
                    <a:bodyPr/>
                    <a:lstStyle/>
                    <a:p>
                      <a:pPr algn="l"/>
                      <a:r>
                        <a:rPr lang="uk-UA" sz="12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Перевірка імені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uk-UA" sz="12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“11”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uk-UA" sz="1200" b="0" i="0" u="none" strike="noStrike" cap="none" noProof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Ім’я не може складатися з чисел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uk-UA" sz="1200" b="0" i="0" u="none" strike="noStrike" cap="none" noProof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Ім'я може містити лише літери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8907626"/>
                  </a:ext>
                </a:extLst>
              </a:tr>
              <a:tr h="700521">
                <a:tc>
                  <a:txBody>
                    <a:bodyPr/>
                    <a:lstStyle/>
                    <a:p>
                      <a:pPr algn="l"/>
                      <a:r>
                        <a:rPr lang="uk-UA" sz="12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Перевірка пошти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uk-UA" sz="12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“serdukvika”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uk-UA" sz="1200" b="0" i="0" u="none" strike="noStrike" cap="none" noProof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Некоректний формат пошти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uk-UA" sz="1200" b="0" i="0" u="none" strike="noStrike" cap="none" noProof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Введіть коректний email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3964049"/>
                  </a:ext>
                </a:extLst>
              </a:tr>
            </a:tbl>
          </a:graphicData>
        </a:graphic>
      </p:graphicFrame>
      <p:graphicFrame>
        <p:nvGraphicFramePr>
          <p:cNvPr id="15" name="Таблиця 14">
            <a:extLst>
              <a:ext uri="{FF2B5EF4-FFF2-40B4-BE49-F238E27FC236}">
                <a16:creationId xmlns:a16="http://schemas.microsoft.com/office/drawing/2014/main" id="{5AC23EB3-7187-DF2A-47ED-C06C967CF7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7314948"/>
              </p:ext>
            </p:extLst>
          </p:nvPr>
        </p:nvGraphicFramePr>
        <p:xfrm>
          <a:off x="4630058" y="708525"/>
          <a:ext cx="4404213" cy="3721501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468071">
                  <a:extLst>
                    <a:ext uri="{9D8B030D-6E8A-4147-A177-3AD203B41FA5}">
                      <a16:colId xmlns:a16="http://schemas.microsoft.com/office/drawing/2014/main" val="3935105683"/>
                    </a:ext>
                  </a:extLst>
                </a:gridCol>
                <a:gridCol w="1468071">
                  <a:extLst>
                    <a:ext uri="{9D8B030D-6E8A-4147-A177-3AD203B41FA5}">
                      <a16:colId xmlns:a16="http://schemas.microsoft.com/office/drawing/2014/main" val="3715564239"/>
                    </a:ext>
                  </a:extLst>
                </a:gridCol>
                <a:gridCol w="1468071">
                  <a:extLst>
                    <a:ext uri="{9D8B030D-6E8A-4147-A177-3AD203B41FA5}">
                      <a16:colId xmlns:a16="http://schemas.microsoft.com/office/drawing/2014/main" val="2815947396"/>
                    </a:ext>
                  </a:extLst>
                </a:gridCol>
              </a:tblGrid>
              <a:tr h="26680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uk-UA" sz="1200" noProof="0" dirty="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Інтеграційне тестування</a:t>
                      </a:r>
                      <a:endParaRPr lang="uk-UA" sz="1200" noProof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uk-U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uk-U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770447"/>
                  </a:ext>
                </a:extLst>
              </a:tr>
              <a:tr h="444682">
                <a:tc>
                  <a:txBody>
                    <a:bodyPr/>
                    <a:lstStyle/>
                    <a:p>
                      <a:pPr algn="ctr"/>
                      <a:r>
                        <a:rPr lang="uk-UA" sz="12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Етап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2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Очікуваний результат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2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Фактичний результат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6035620"/>
                  </a:ext>
                </a:extLst>
              </a:tr>
              <a:tr h="978301">
                <a:tc>
                  <a:txBody>
                    <a:bodyPr/>
                    <a:lstStyle/>
                    <a:p>
                      <a:pPr algn="l"/>
                      <a:r>
                        <a:rPr lang="uk-UA" sz="12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Перевірка користувача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uk-UA" sz="1200" b="0" i="0" u="none" strike="noStrike" cap="none" noProof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Користувача знайдено, повернуто секретне питання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uk-UA" sz="12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Користувача успішно знайдено та повернуто секретне питання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0446192"/>
                  </a:ext>
                </a:extLst>
              </a:tr>
              <a:tr h="800428">
                <a:tc>
                  <a:txBody>
                    <a:bodyPr/>
                    <a:lstStyle/>
                    <a:p>
                      <a:pPr algn="l"/>
                      <a:r>
                        <a:rPr lang="uk-UA" sz="12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Перевірка відповіді на секретне питання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uk-UA" sz="1200" b="0" i="0" u="none" strike="noStrike" cap="none" noProof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Підтверджено особу користувача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uk-UA" sz="12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Відповідь на секретне питання успішно перевірена, користувача ідентифіковано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8907626"/>
                  </a:ext>
                </a:extLst>
              </a:tr>
              <a:tr h="800428">
                <a:tc>
                  <a:txBody>
                    <a:bodyPr/>
                    <a:lstStyle/>
                    <a:p>
                      <a:pPr algn="l"/>
                      <a:r>
                        <a:rPr lang="uk-UA" sz="12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Скидання пароля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uk-UA" sz="1200" b="0" i="0" u="none" strike="noStrike" cap="none" noProof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Успішне оновлення пароля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uk-UA" sz="12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Пароль користувача успішно оновлено в базі даних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39640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221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>
            <a:spLocks noGrp="1"/>
          </p:cNvSpPr>
          <p:nvPr>
            <p:ph type="title"/>
          </p:nvPr>
        </p:nvSpPr>
        <p:spPr>
          <a:xfrm>
            <a:off x="311700" y="-35287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3200" noProof="0" dirty="0"/>
              <a:t>Висновки </a:t>
            </a:r>
          </a:p>
        </p:txBody>
      </p:sp>
      <p:sp>
        <p:nvSpPr>
          <p:cNvPr id="142" name="Google Shape;142;p24"/>
          <p:cNvSpPr txBox="1">
            <a:spLocks noGrp="1"/>
          </p:cNvSpPr>
          <p:nvPr>
            <p:ph type="body" idx="1"/>
          </p:nvPr>
        </p:nvSpPr>
        <p:spPr>
          <a:xfrm>
            <a:off x="399666" y="831137"/>
            <a:ext cx="8520600" cy="294983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lnSpc>
                <a:spcPct val="150000"/>
              </a:lnSpc>
              <a:buNone/>
            </a:pPr>
            <a:r>
              <a:rPr lang="uk-UA" sz="16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 результаті було розроблено веб-застосунок із розподілом користувачів за ролями</a:t>
            </a:r>
            <a:r>
              <a:rPr lang="en-US" sz="16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uk-UA" sz="16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адміністратор та користувач. Реалізовано керування навчальними матеріалами, визначення рівня користувача за результатами міні-тестів, візуалізацію результатів у вигляді графіка та аналітику проходження курсів.</a:t>
            </a:r>
          </a:p>
          <a:p>
            <a:pPr marL="0" lvl="0" indent="0">
              <a:lnSpc>
                <a:spcPct val="150000"/>
              </a:lnSpc>
              <a:buNone/>
            </a:pPr>
            <a:endParaRPr lang="uk-UA" sz="16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50000"/>
              </a:lnSpc>
              <a:buNone/>
            </a:pPr>
            <a:r>
              <a:rPr lang="uk-UA" sz="16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 майбутньому планується розширення функціоналу системи та впровадження преміум-функцій для покращення персоналізації навчального процесу.</a:t>
            </a:r>
          </a:p>
        </p:txBody>
      </p:sp>
      <p:pic>
        <p:nvPicPr>
          <p:cNvPr id="143" name="Google Shape;14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B5B94D8-63F6-7EAC-6461-2DB4B135596F}"/>
              </a:ext>
            </a:extLst>
          </p:cNvPr>
          <p:cNvSpPr txBox="1"/>
          <p:nvPr/>
        </p:nvSpPr>
        <p:spPr>
          <a:xfrm>
            <a:off x="8778240" y="4606349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noProof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fld>
            <a:endParaRPr lang="uk-UA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Шаблон презентації кваліфікаційної роботи магістрів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Шаблон презентації кваліфікаційної роботи магістрів" id="{72E840FA-3155-46C9-BB37-701E4C9B1C67}" vid="{DC416FE5-D050-4603-AD75-8F49A0CCCB6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Шаблон презентації до кв_р_бакалавра-2025</Template>
  <TotalTime>372</TotalTime>
  <Words>436</Words>
  <Application>Microsoft Office PowerPoint</Application>
  <PresentationFormat>Екран (16:9)</PresentationFormat>
  <Paragraphs>84</Paragraphs>
  <Slides>13</Slides>
  <Notes>11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13</vt:i4>
      </vt:variant>
    </vt:vector>
  </HeadingPairs>
  <TitlesOfParts>
    <vt:vector size="18" baseType="lpstr">
      <vt:lpstr>Times New Roman</vt:lpstr>
      <vt:lpstr>Arial</vt:lpstr>
      <vt:lpstr>Economica</vt:lpstr>
      <vt:lpstr>Open Sans</vt:lpstr>
      <vt:lpstr>Шаблон презентації кваліфікаційної роботи магістрів</vt:lpstr>
      <vt:lpstr>Веб-застосунок для вивчення англійської мови. Адмін-панель та система аналітики прогресу.</vt:lpstr>
      <vt:lpstr>Мета роботи</vt:lpstr>
      <vt:lpstr>Аналіз існуючих рішень</vt:lpstr>
      <vt:lpstr>Постановка задачі та опис системи</vt:lpstr>
      <vt:lpstr>Вибір технологій розробки </vt:lpstr>
      <vt:lpstr>Архітектура створенного програмного забезпечення</vt:lpstr>
      <vt:lpstr>Діаграма використання</vt:lpstr>
      <vt:lpstr>Діаграма діяльності</vt:lpstr>
      <vt:lpstr>Схема бази даних</vt:lpstr>
      <vt:lpstr>Приклад реалізації</vt:lpstr>
      <vt:lpstr>Інтерфейс користувача </vt:lpstr>
      <vt:lpstr>Тестування</vt:lpstr>
      <vt:lpstr>Висновки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Виктория Сердюк</dc:creator>
  <cp:lastModifiedBy>Виктория Сердюк</cp:lastModifiedBy>
  <cp:revision>16</cp:revision>
  <dcterms:created xsi:type="dcterms:W3CDTF">2026-06-29T17:26:51Z</dcterms:created>
  <dcterms:modified xsi:type="dcterms:W3CDTF">2026-07-01T10:33:30Z</dcterms:modified>
</cp:coreProperties>
</file>